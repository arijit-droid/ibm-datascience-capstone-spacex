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charts/chart4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</c:v>
                </c:pt>
              </c:strCache>
            </c:strRef>
          </c:tx>
          <c:spPr>
            <a:solidFill>
              <a:srgbClr val="3DDC84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&lt;1000kg</c:v>
                </c:pt>
                <c:pt idx="1">
                  <c:v>1000-2000</c:v>
                </c:pt>
                <c:pt idx="2">
                  <c:v>2000-3500</c:v>
                </c:pt>
                <c:pt idx="3">
                  <c:v>3500-5000</c:v>
                </c:pt>
                <c:pt idx="4">
                  <c:v>5000-7000</c:v>
                </c:pt>
                <c:pt idx="5">
                  <c:v>&gt;7000kg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5</c:v>
                </c:pt>
                <c:pt idx="2">
                  <c:v>6</c:v>
                </c:pt>
                <c:pt idx="3">
                  <c:v>5</c:v>
                </c:pt>
                <c:pt idx="4">
                  <c:v>2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60-41BB-9841-89DA229DE39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Failure</c:v>
                </c:pt>
              </c:strCache>
            </c:strRef>
          </c:tx>
          <c:spPr>
            <a:solidFill>
              <a:srgbClr val="FF5A5F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&lt;1000kg</c:v>
                </c:pt>
                <c:pt idx="1">
                  <c:v>1000-2000</c:v>
                </c:pt>
                <c:pt idx="2">
                  <c:v>2000-3500</c:v>
                </c:pt>
                <c:pt idx="3">
                  <c:v>3500-5000</c:v>
                </c:pt>
                <c:pt idx="4">
                  <c:v>5000-7000</c:v>
                </c:pt>
                <c:pt idx="5">
                  <c:v>&gt;7000kg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  <c:pt idx="4">
                  <c:v>3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F60-41BB-9841-89DA229DE3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N" b="0" i="0" u="none" strike="noStrike">
                    <a:solidFill>
                      <a:srgbClr val="000000"/>
                    </a:solidFill>
                    <a:latin typeface="Arial"/>
                  </a:rPr>
                  <a:t>Payload Mass Range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N" b="0" i="0" u="none" strike="noStrike">
                    <a:solidFill>
                      <a:srgbClr val="000000"/>
                    </a:solidFill>
                    <a:latin typeface="Arial"/>
                  </a:rPr>
                  <a:t>Count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0A162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 Rate (%)</c:v>
                </c:pt>
              </c:strCache>
            </c:strRef>
          </c:tx>
          <c:spPr>
            <a:ln w="25400" cap="flat">
              <a:solidFill>
                <a:srgbClr val="3DDC8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DDC84"/>
              </a:solidFill>
              <a:ln w="9525" cap="flat">
                <a:solidFill>
                  <a:srgbClr val="3DDC84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1-10</c:v>
                </c:pt>
                <c:pt idx="1">
                  <c:v>11-20</c:v>
                </c:pt>
                <c:pt idx="2">
                  <c:v>21-30</c:v>
                </c:pt>
                <c:pt idx="3">
                  <c:v>31-40</c:v>
                </c:pt>
                <c:pt idx="4">
                  <c:v>41-50</c:v>
                </c:pt>
                <c:pt idx="5">
                  <c:v>51-60</c:v>
                </c:pt>
                <c:pt idx="6">
                  <c:v>61-70</c:v>
                </c:pt>
                <c:pt idx="7">
                  <c:v>71-80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</c:v>
                </c:pt>
                <c:pt idx="1">
                  <c:v>20</c:v>
                </c:pt>
                <c:pt idx="2">
                  <c:v>35</c:v>
                </c:pt>
                <c:pt idx="3">
                  <c:v>55</c:v>
                </c:pt>
                <c:pt idx="4">
                  <c:v>67</c:v>
                </c:pt>
                <c:pt idx="5">
                  <c:v>73</c:v>
                </c:pt>
                <c:pt idx="6">
                  <c:v>80</c:v>
                </c:pt>
                <c:pt idx="7">
                  <c:v>88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32C4-492E-9BE9-6A014F0A66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N" b="0" i="0" u="none" strike="noStrike">
                    <a:solidFill>
                      <a:srgbClr val="000000"/>
                    </a:solidFill>
                    <a:latin typeface="Arial"/>
                  </a:rPr>
                  <a:t>Flight Number Range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1E3A5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N" b="0" i="0" u="none" strike="noStrike">
                    <a:solidFill>
                      <a:srgbClr val="000000"/>
                    </a:solidFill>
                    <a:latin typeface="Arial"/>
                  </a:rPr>
                  <a:t>Success Rate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A1628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 Rate (%)</c:v>
                </c:pt>
              </c:strCache>
            </c:strRef>
          </c:tx>
          <c:spPr>
            <a:solidFill>
              <a:srgbClr val="00C8F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LEO</c:v>
                </c:pt>
                <c:pt idx="1">
                  <c:v>ISS</c:v>
                </c:pt>
                <c:pt idx="2">
                  <c:v>GTO</c:v>
                </c:pt>
                <c:pt idx="3">
                  <c:v>SSO</c:v>
                </c:pt>
                <c:pt idx="4">
                  <c:v>VLEO</c:v>
                </c:pt>
                <c:pt idx="5">
                  <c:v>HEO</c:v>
                </c:pt>
                <c:pt idx="6">
                  <c:v>ES-L1</c:v>
                </c:pt>
                <c:pt idx="7">
                  <c:v>GEO</c:v>
                </c:pt>
                <c:pt idx="8">
                  <c:v>MEO</c:v>
                </c:pt>
                <c:pt idx="9">
                  <c:v>SO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100</c:v>
                </c:pt>
                <c:pt idx="1">
                  <c:v>100</c:v>
                </c:pt>
                <c:pt idx="2">
                  <c:v>50</c:v>
                </c:pt>
                <c:pt idx="3">
                  <c:v>83</c:v>
                </c:pt>
                <c:pt idx="4">
                  <c:v>100</c:v>
                </c:pt>
                <c:pt idx="5">
                  <c:v>0</c:v>
                </c:pt>
                <c:pt idx="6">
                  <c:v>100</c:v>
                </c:pt>
                <c:pt idx="7">
                  <c:v>0</c:v>
                </c:pt>
                <c:pt idx="8">
                  <c:v>100</c:v>
                </c:pt>
                <c:pt idx="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6E-4E95-8BC5-C2C23C9045D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N" b="0" i="0" u="none" strike="noStrike">
                    <a:solidFill>
                      <a:srgbClr val="000000"/>
                    </a:solidFill>
                    <a:latin typeface="Arial"/>
                  </a:rPr>
                  <a:t>Orbit Type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1E3A5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N" b="0" i="0" u="none" strike="noStrike">
                    <a:solidFill>
                      <a:srgbClr val="000000"/>
                    </a:solidFill>
                    <a:latin typeface="Arial"/>
                  </a:rPr>
                  <a:t>Success %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A1628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 Rate (%)</c:v>
                </c:pt>
              </c:strCache>
            </c:strRef>
          </c:tx>
          <c:spPr>
            <a:ln w="38100" cap="flat">
              <a:solidFill>
                <a:srgbClr val="00C8F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C8FF"/>
              </a:solidFill>
              <a:ln w="9525" cap="flat">
                <a:solidFill>
                  <a:srgbClr val="00C8FF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20</c:v>
                </c:pt>
                <c:pt idx="6">
                  <c:v>55</c:v>
                </c:pt>
                <c:pt idx="7">
                  <c:v>67</c:v>
                </c:pt>
                <c:pt idx="8">
                  <c:v>73</c:v>
                </c:pt>
                <c:pt idx="9">
                  <c:v>83</c:v>
                </c:pt>
                <c:pt idx="10">
                  <c:v>90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6D71-47DF-A883-9EC346CAE63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N" b="0" i="0" u="none" strike="noStrike">
                    <a:solidFill>
                      <a:srgbClr val="000000"/>
                    </a:solidFill>
                    <a:latin typeface="Arial"/>
                  </a:rPr>
                  <a:t>Year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1E3A5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N" b="0" i="0" u="none" strike="noStrike">
                    <a:solidFill>
                      <a:srgbClr val="000000"/>
                    </a:solidFill>
                    <a:latin typeface="Arial"/>
                  </a:rPr>
                  <a:t>Success Rate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A1628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Launches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DDC8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FE9-4AF9-8E7A-0D9A36B9FB38}"/>
              </c:ext>
            </c:extLst>
          </c:dPt>
          <c:dPt>
            <c:idx val="1"/>
            <c:bubble3D val="0"/>
            <c:spPr>
              <a:solidFill>
                <a:srgbClr val="00C8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FE9-4AF9-8E7A-0D9A36B9FB38}"/>
              </c:ext>
            </c:extLst>
          </c:dPt>
          <c:dPt>
            <c:idx val="2"/>
            <c:bubble3D val="0"/>
            <c:spPr>
              <a:solidFill>
                <a:srgbClr val="FFB8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FE9-4AF9-8E7A-0D9A36B9FB38}"/>
              </c:ext>
            </c:extLst>
          </c:dPt>
          <c:dPt>
            <c:idx val="3"/>
            <c:bubble3D val="0"/>
            <c:spPr>
              <a:solidFill>
                <a:srgbClr val="FF5A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FE9-4AF9-8E7A-0D9A36B9FB38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FE9-4AF9-8E7A-0D9A36B9FB38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FE9-4AF9-8E7A-0D9A36B9FB38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FE9-4AF9-8E7A-0D9A36B9FB38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FE9-4AF9-8E7A-0D9A36B9FB3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KSC LC-39A</c:v>
                </c:pt>
                <c:pt idx="1">
                  <c:v>CCAFS LC-40</c:v>
                </c:pt>
                <c:pt idx="2">
                  <c:v>CCAFS SLC-40</c:v>
                </c:pt>
                <c:pt idx="3">
                  <c:v>VAFB SLC-4E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27</c:v>
                </c:pt>
                <c:pt idx="1">
                  <c:v>26</c:v>
                </c:pt>
                <c:pt idx="2">
                  <c:v>22</c:v>
                </c:pt>
                <c:pt idx="3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FE9-4AF9-8E7A-0D9A36B9FB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0A1628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</c:v>
                </c:pt>
              </c:strCache>
            </c:strRef>
          </c:tx>
          <c:spPr>
            <a:solidFill>
              <a:srgbClr val="3DDC84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&lt;1000kg</c:v>
                </c:pt>
                <c:pt idx="1">
                  <c:v>1-2K kg</c:v>
                </c:pt>
                <c:pt idx="2">
                  <c:v>2-3.5K kg</c:v>
                </c:pt>
                <c:pt idx="3">
                  <c:v>3.5-5K kg</c:v>
                </c:pt>
                <c:pt idx="4">
                  <c:v>5-7K kg</c:v>
                </c:pt>
                <c:pt idx="5">
                  <c:v>&gt;7K kg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5</c:v>
                </c:pt>
                <c:pt idx="2">
                  <c:v>6</c:v>
                </c:pt>
                <c:pt idx="3">
                  <c:v>5</c:v>
                </c:pt>
                <c:pt idx="4">
                  <c:v>2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DF-4A51-9C31-E48D1EAA13B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Failure</c:v>
                </c:pt>
              </c:strCache>
            </c:strRef>
          </c:tx>
          <c:spPr>
            <a:solidFill>
              <a:srgbClr val="FF5A5F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&lt;1000kg</c:v>
                </c:pt>
                <c:pt idx="1">
                  <c:v>1-2K kg</c:v>
                </c:pt>
                <c:pt idx="2">
                  <c:v>2-3.5K kg</c:v>
                </c:pt>
                <c:pt idx="3">
                  <c:v>3.5-5K kg</c:v>
                </c:pt>
                <c:pt idx="4">
                  <c:v>5-7K kg</c:v>
                </c:pt>
                <c:pt idx="5">
                  <c:v>&gt;7K kg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  <c:pt idx="4">
                  <c:v>3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2DF-4A51-9C31-E48D1EAA13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N" b="0" i="0" u="none" strike="noStrike">
                    <a:solidFill>
                      <a:srgbClr val="000000"/>
                    </a:solidFill>
                    <a:latin typeface="Arial"/>
                  </a:rPr>
                  <a:t>Payload Mass Range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N" b="0" i="0" u="none" strike="noStrike">
                    <a:solidFill>
                      <a:srgbClr val="000000"/>
                    </a:solidFill>
                    <a:latin typeface="Arial"/>
                  </a:rPr>
                  <a:t>Count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0A162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0676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sername/IBM-DataScience-Capstone-SpaceX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IBM-DataScience-Capstone-SpaceX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sername/IBM-DataScience-Capstone-SpaceX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sername/IBM-DataScience-Capstone-SpaceX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sername/IBM-DataScience-Capstone-SpaceX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sername/IBM-DataScience-Capstone-SpaceX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sername/IBM-DataScience-Capstone-SpaceX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sername/IBM-DataScience-Capstone-SpaceX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sername/IBM-DataScience-Capstone-SpaceX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sername/IBM-DataScience-Capstone-SpaceX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username/IBM-DataScience-Capstone-SpaceX" TargetMode="Externa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username/IBM-DataScience-Capstone-SpaceX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sername/IBM-DataScience-Capstone-SpaceX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sername/IBM-DataScience-Capstone-SpaceX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username/IBM-DataScience-Capstone-SpaceX" TargetMode="External"/><Relationship Id="rId4" Type="http://schemas.openxmlformats.org/officeDocument/2006/relationships/chart" Target="../charts/char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sername/IBM-DataScience-Capstone-SpaceX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sername/IBM-DataScience-Capstone-SpaceX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0F1E33"/>
          </a:solidFill>
          <a:ln w="12700">
            <a:solidFill>
              <a:srgbClr val="0F1E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6400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74320" y="14173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Stage Landing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265176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Data Science Professional Certificate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3474720"/>
            <a:ext cx="4114800" cy="0"/>
          </a:xfrm>
          <a:prstGeom prst="line">
            <a:avLst/>
          </a:prstGeom>
          <a:noFill/>
          <a:ln w="12700">
            <a:solidFill>
              <a:srgbClr val="1E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" y="3566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By: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Arijit Burman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3977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Data Science Professional Certification Capstone Project</a:t>
            </a:r>
            <a:endParaRPr lang="en-US" sz="1000" dirty="0"/>
          </a:p>
        </p:txBody>
      </p:sp>
      <p:sp>
        <p:nvSpPr>
          <p:cNvPr id="10" name="Text 8">
            <a:hlinkClick r:id="rId3"/>
          </p:cNvPr>
          <p:cNvSpPr/>
          <p:nvPr/>
        </p:nvSpPr>
        <p:spPr>
          <a:xfrm>
            <a:off x="274320" y="4343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50" u="sng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https://github.com/Arijit-droid/IBM-DataScience-Capstone-SpaceX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394960" y="640080"/>
            <a:ext cx="1691640" cy="1737360"/>
          </a:xfrm>
          <a:prstGeom prst="rect">
            <a:avLst/>
          </a:prstGeom>
          <a:solidFill>
            <a:srgbClr val="0F1E33"/>
          </a:solidFill>
          <a:ln w="15240">
            <a:solidFill>
              <a:srgbClr val="FFB8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394960" y="685800"/>
            <a:ext cx="1691640" cy="9555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~$62M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94960" y="1595628"/>
            <a:ext cx="169164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Cost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w/ Reuse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640080"/>
            <a:ext cx="1691640" cy="1737360"/>
          </a:xfrm>
          <a:prstGeom prst="rect">
            <a:avLst/>
          </a:prstGeom>
          <a:solidFill>
            <a:srgbClr val="0F1E33"/>
          </a:solidFill>
          <a:ln w="15240">
            <a:solidFill>
              <a:srgbClr val="FFB8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315200" y="685800"/>
            <a:ext cx="1691640" cy="9555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~$150M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315200" y="1595628"/>
            <a:ext cx="169164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Cost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w/o Reuse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94960" y="2651760"/>
            <a:ext cx="1691640" cy="1737360"/>
          </a:xfrm>
          <a:prstGeom prst="rect">
            <a:avLst/>
          </a:prstGeom>
          <a:solidFill>
            <a:srgbClr val="0F1E33"/>
          </a:solidFill>
          <a:ln w="15240">
            <a:solidFill>
              <a:srgbClr val="FFB8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394960" y="2697480"/>
            <a:ext cx="1691640" cy="9555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90%+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394960" y="3607308"/>
            <a:ext cx="169164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0" y="2651760"/>
            <a:ext cx="1691640" cy="1737360"/>
          </a:xfrm>
          <a:prstGeom prst="rect">
            <a:avLst/>
          </a:prstGeom>
          <a:solidFill>
            <a:srgbClr val="0F1E33"/>
          </a:solidFill>
          <a:ln w="15240">
            <a:solidFill>
              <a:srgbClr val="FFB8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315200" y="2697480"/>
            <a:ext cx="1691640" cy="9555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315200" y="3607308"/>
            <a:ext cx="169164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 9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E33"/>
          </a:solidFill>
          <a:ln w="12700">
            <a:solidFill>
              <a:srgbClr val="0F1E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landing success to estimate launch cost — enabling competitive bidding against SpaceX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E33"/>
          </a:solidFill>
          <a:ln w="12700">
            <a:solidFill>
              <a:srgbClr val="0F1E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64592" y="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Methods &amp; Results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85800"/>
            <a:ext cx="9144000" cy="0"/>
          </a:xfrm>
          <a:prstGeom prst="line">
            <a:avLst/>
          </a:prstGeom>
          <a:noFill/>
          <a:ln w="10160">
            <a:solidFill>
              <a:srgbClr val="1E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28600" y="822960"/>
            <a:ext cx="2011680" cy="2011680"/>
          </a:xfrm>
          <a:prstGeom prst="rect">
            <a:avLst/>
          </a:prstGeom>
          <a:solidFill>
            <a:srgbClr val="0F1E33"/>
          </a:solidFill>
          <a:ln w="1524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28600" y="822960"/>
            <a:ext cx="2011680" cy="32004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38328" y="822960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1207008"/>
            <a:ext cx="179222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REST API — launch records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 web scraping (BeautifulSoup)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Falcon 9 launches compiled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404872" y="822960"/>
            <a:ext cx="2011680" cy="2011680"/>
          </a:xfrm>
          <a:prstGeom prst="rect">
            <a:avLst/>
          </a:prstGeom>
          <a:solidFill>
            <a:srgbClr val="0F1E33"/>
          </a:solidFill>
          <a:ln w="15240">
            <a:solidFill>
              <a:srgbClr val="FFB8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404872" y="822960"/>
            <a:ext cx="2011680" cy="32004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514600" y="822960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14600" y="1207008"/>
            <a:ext cx="179222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 of categorical features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missing values (mean imputation)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engineering: payload, orbit, booster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81144" y="822960"/>
            <a:ext cx="2011680" cy="2011680"/>
          </a:xfrm>
          <a:prstGeom prst="rect">
            <a:avLst/>
          </a:prstGeom>
          <a:solidFill>
            <a:srgbClr val="0F1E33"/>
          </a:solidFill>
          <a:ln w="15240">
            <a:solidFill>
              <a:srgbClr val="3DDC84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581144" y="822960"/>
            <a:ext cx="2011680" cy="320040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690872" y="822960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Visualization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90872" y="1207008"/>
            <a:ext cx="179222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Matplotlib/Seaborn charts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 via DB2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Folium maps + Plotly Dash dashboard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757416" y="822960"/>
            <a:ext cx="2011680" cy="2011680"/>
          </a:xfrm>
          <a:prstGeom prst="rect">
            <a:avLst/>
          </a:prstGeom>
          <a:solidFill>
            <a:srgbClr val="0F1E33"/>
          </a:solidFill>
          <a:ln w="15240">
            <a:solidFill>
              <a:srgbClr val="FF5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757416" y="822960"/>
            <a:ext cx="2011680" cy="320040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867144" y="822960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Modelling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67144" y="1207008"/>
            <a:ext cx="179222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 SVM, Decision Tree, KNN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hyperparameter tuning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Tree: 87.5% test accuracy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28600" y="2944368"/>
            <a:ext cx="8686800" cy="1664208"/>
          </a:xfrm>
          <a:prstGeom prst="rect">
            <a:avLst/>
          </a:prstGeom>
          <a:solidFill>
            <a:srgbClr val="0F1E33"/>
          </a:solidFill>
          <a:ln w="12700">
            <a:solidFill>
              <a:srgbClr val="1E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65760" y="30175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3337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87.5%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7200" y="37947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157984" y="3337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157984" y="37947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858768" y="3337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KSC LC-39A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858768" y="37947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Site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559552" y="3337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 Orbit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559552" y="37947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Rate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260336" y="3337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2019–2020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260336" y="37947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Success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900" dirty="0"/>
          </a:p>
        </p:txBody>
      </p:sp>
      <p:sp>
        <p:nvSpPr>
          <p:cNvPr id="35" name="Text 33">
            <a:hlinkClick r:id="rId3"/>
          </p:cNvPr>
          <p:cNvSpPr/>
          <p:nvPr/>
        </p:nvSpPr>
        <p:spPr>
          <a:xfrm>
            <a:off x="228600" y="4754880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u="sng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GitHub: https://github.com/Arijit-droid/IBM-DataScience-Capstone-SpaceX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E33"/>
          </a:solidFill>
          <a:ln w="12700">
            <a:solidFill>
              <a:srgbClr val="0F1E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64592" y="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Background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85800"/>
            <a:ext cx="9144000" cy="0"/>
          </a:xfrm>
          <a:prstGeom prst="line">
            <a:avLst/>
          </a:prstGeom>
          <a:noFill/>
          <a:ln w="10160">
            <a:solidFill>
              <a:srgbClr val="1E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28600" y="822960"/>
            <a:ext cx="4846320" cy="3200400"/>
          </a:xfrm>
          <a:prstGeom prst="rect">
            <a:avLst/>
          </a:prstGeom>
          <a:solidFill>
            <a:srgbClr val="0F1E33"/>
          </a:solidFill>
          <a:ln w="1524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28600" y="822960"/>
            <a:ext cx="4846320" cy="34747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7472" y="8229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" y="1234440"/>
            <a:ext cx="4617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revolutionised space travel by developing reusable rockets.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Falcon 9 rocket can recover its first stage booster via controlled landing, reducing costs from ~$150M to ~$62M per launch.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competitor wants to bid against SpaceX for rocket launches. To do this, they need to predict whether SpaceX will successfully land the first stage booster — because if the first stage can be reused, the launch is much cheaper.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257800" y="822960"/>
            <a:ext cx="3657600" cy="3200400"/>
          </a:xfrm>
          <a:prstGeom prst="rect">
            <a:avLst/>
          </a:prstGeom>
          <a:solidFill>
            <a:srgbClr val="0F1E33"/>
          </a:solidFill>
          <a:ln w="15240">
            <a:solidFill>
              <a:srgbClr val="FFB8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257800" y="822960"/>
            <a:ext cx="3657600" cy="347472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376672" y="8229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76672" y="1234440"/>
            <a:ext cx="34290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SpaceX launch data via REST API and web scraping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data wrangling and exploratory data analysis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interactive dashboards and maps for visual insights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ML models to predict first-stage landing success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key factors influencing landing outcomes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the best model for accurate prediction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28600" y="4160520"/>
            <a:ext cx="8686800" cy="594360"/>
          </a:xfrm>
          <a:prstGeom prst="rect">
            <a:avLst/>
          </a:prstGeom>
          <a:solidFill>
            <a:srgbClr val="10204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Question: Can we predict whether SpaceX will successfully land Falcon 9's first stage using publicly available data?</a:t>
            </a:r>
            <a:endParaRPr lang="en-US" sz="1100" dirty="0"/>
          </a:p>
        </p:txBody>
      </p:sp>
      <p:sp>
        <p:nvSpPr>
          <p:cNvPr id="16" name="Text 14">
            <a:hlinkClick r:id="rId3"/>
          </p:cNvPr>
          <p:cNvSpPr/>
          <p:nvPr/>
        </p:nvSpPr>
        <p:spPr>
          <a:xfrm>
            <a:off x="228600" y="4773168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u="sng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GitHub: https://github.com/Arijit-droid/IBM-DataScience-Capstone-SpaceX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E33"/>
          </a:solidFill>
          <a:ln w="12700">
            <a:solidFill>
              <a:srgbClr val="0F1E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64592" y="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— SpaceX REST API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85800"/>
            <a:ext cx="9144000" cy="0"/>
          </a:xfrm>
          <a:prstGeom prst="line">
            <a:avLst/>
          </a:prstGeom>
          <a:noFill/>
          <a:ln w="10160">
            <a:solidFill>
              <a:srgbClr val="1E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234440" cy="77724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" y="822960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API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r-spacex.github.io/api/v4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508760" y="1211580"/>
            <a:ext cx="21031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719072" y="822960"/>
            <a:ext cx="1234440" cy="77724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719072" y="822960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/launches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53512" y="1211580"/>
            <a:ext cx="21031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163824" y="822960"/>
            <a:ext cx="1234440" cy="77724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163824" y="822960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/rockets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/launchpads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/payloads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398264" y="1211580"/>
            <a:ext cx="21031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608576" y="822960"/>
            <a:ext cx="1234440" cy="77724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608576" y="822960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JSON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843016" y="1211580"/>
            <a:ext cx="21031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053328" y="822960"/>
            <a:ext cx="1234440" cy="777240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053328" y="822960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287768" y="1211580"/>
            <a:ext cx="21031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498080" y="822960"/>
            <a:ext cx="1234440" cy="777240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498080" y="822960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28600" y="675202"/>
            <a:ext cx="8686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Flow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28600" y="1783080"/>
            <a:ext cx="4160520" cy="3063240"/>
          </a:xfrm>
          <a:prstGeom prst="rect">
            <a:avLst/>
          </a:prstGeom>
          <a:solidFill>
            <a:srgbClr val="0F1E33"/>
          </a:solidFill>
          <a:ln w="1524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228600" y="1783080"/>
            <a:ext cx="4160520" cy="32004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47472" y="17830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 &amp; Fields Collected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47472" y="2167128"/>
            <a:ext cx="39319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number, Date, Booster version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mass (kg) &amp; orbit type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site name &amp; coordinates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landing success/failure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type (ASDS / RTLS / Ocean)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previous flights &amp; grid fins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Legs, reused flag, block version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17720" y="1783080"/>
            <a:ext cx="4297680" cy="3063240"/>
          </a:xfrm>
          <a:prstGeom prst="rect">
            <a:avLst/>
          </a:prstGeom>
          <a:solidFill>
            <a:srgbClr val="0F1E33"/>
          </a:solidFill>
          <a:ln w="15240">
            <a:solidFill>
              <a:srgbClr val="FFB8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617720" y="1783080"/>
            <a:ext cx="4297680" cy="320040"/>
          </a:xfrm>
          <a:prstGeom prst="rect">
            <a:avLst/>
          </a:prstGeom>
          <a:solidFill>
            <a:srgbClr val="102040"/>
          </a:solidFill>
          <a:ln w="12700">
            <a:solidFill>
              <a:srgbClr val="102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736592" y="17830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API Call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63440" y="2167128"/>
            <a:ext cx="4160520" cy="2633472"/>
          </a:xfrm>
          <a:prstGeom prst="rect">
            <a:avLst/>
          </a:prstGeom>
          <a:solidFill>
            <a:srgbClr val="0A162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requests, pandas as pd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BASE_URL = "https://api.spacexdata.com/v4/"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Fetch launch data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requests.get(BASE_URL + "launches/past")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response.json()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Extract key fields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pd.json_normalize(data)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Fetch booster version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get_booster(rocket_id):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 = requests.get(BASE_URL +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f"rockets/{rocket_id}")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r.json()['name']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df['BoosterVersion'] = df['rocket'].apply(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get_booster)</a:t>
            </a:r>
            <a:endParaRPr lang="en-US" sz="850" dirty="0"/>
          </a:p>
        </p:txBody>
      </p:sp>
      <p:sp>
        <p:nvSpPr>
          <p:cNvPr id="33" name="Text 31">
            <a:hlinkClick r:id="rId3"/>
          </p:cNvPr>
          <p:cNvSpPr/>
          <p:nvPr/>
        </p:nvSpPr>
        <p:spPr>
          <a:xfrm>
            <a:off x="228600" y="4831773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u="sng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GitHub: https://github.com/Arijit-droid/IBM-DataScience-Capstone-SpaceX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E33"/>
          </a:solidFill>
          <a:ln w="12700">
            <a:solidFill>
              <a:srgbClr val="0F1E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64592" y="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— Web Scraping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 Launch Records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85800"/>
            <a:ext cx="9144000" cy="0"/>
          </a:xfrm>
          <a:prstGeom prst="line">
            <a:avLst/>
          </a:prstGeom>
          <a:noFill/>
          <a:ln w="10160">
            <a:solidFill>
              <a:srgbClr val="1E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234440" cy="77724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" y="822960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URL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508760" y="1211580"/>
            <a:ext cx="21031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719072" y="822960"/>
            <a:ext cx="1234440" cy="77724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719072" y="822960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requests.get()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53512" y="1211580"/>
            <a:ext cx="21031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163824" y="822960"/>
            <a:ext cx="1234440" cy="77724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163824" y="822960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BeautifulSoup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HTML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398264" y="1211580"/>
            <a:ext cx="21031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608576" y="822960"/>
            <a:ext cx="1234440" cy="77724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608576" y="822960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tables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(wikitable)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843016" y="1211580"/>
            <a:ext cx="21031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053328" y="822960"/>
            <a:ext cx="1234440" cy="777240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053328" y="822960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rows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headers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287768" y="1211580"/>
            <a:ext cx="21031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498080" y="822960"/>
            <a:ext cx="1234440" cy="777240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498080" y="822960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CSV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65176" y="682059"/>
            <a:ext cx="8686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Scraping Pipeline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28600" y="1783080"/>
            <a:ext cx="4160520" cy="3063240"/>
          </a:xfrm>
          <a:prstGeom prst="rect">
            <a:avLst/>
          </a:prstGeom>
          <a:solidFill>
            <a:srgbClr val="0F1E33"/>
          </a:solidFill>
          <a:ln w="1524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228600" y="1783080"/>
            <a:ext cx="4160520" cy="32004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38328" y="1783080"/>
            <a:ext cx="4050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Scraped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8328" y="2167128"/>
            <a:ext cx="3941064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Wikipedia – 'List of Falcon 9 and Falcon Heavy launches'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No., Launch Date, Launch Time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Booster version &amp; serial number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site &amp; payload name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mass (kg) &amp; orbit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&amp; launch outcome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Booster landing outcome &amp; type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80+ Falcon 9 launches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17720" y="1783080"/>
            <a:ext cx="4297680" cy="3063240"/>
          </a:xfrm>
          <a:prstGeom prst="rect">
            <a:avLst/>
          </a:prstGeom>
          <a:solidFill>
            <a:srgbClr val="0F1E33"/>
          </a:solidFill>
          <a:ln w="15240">
            <a:solidFill>
              <a:srgbClr val="FFB8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617720" y="1783080"/>
            <a:ext cx="4297680" cy="320040"/>
          </a:xfrm>
          <a:prstGeom prst="rect">
            <a:avLst/>
          </a:prstGeom>
          <a:solidFill>
            <a:srgbClr val="102040"/>
          </a:solidFill>
          <a:ln w="12700">
            <a:solidFill>
              <a:srgbClr val="102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736592" y="17830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Scraping Code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63440" y="2167128"/>
            <a:ext cx="4160520" cy="2633472"/>
          </a:xfrm>
          <a:prstGeom prst="rect">
            <a:avLst/>
          </a:prstGeom>
          <a:solidFill>
            <a:srgbClr val="0A162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bs4 import BeautifulSoup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requests, pandas as pd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= ("https://en.wikipedia.org/wiki/"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"List_of_Falcon_9_and_Falcon_"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"Heavy_launches")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 = requests.get(url).text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soup = BeautifulSoup(html, 'html.parser')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Get all launch tables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tables = soup.find_all('table',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{'class': 'wikitable'})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Extract rows from launch table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rows = tables[2].find_all('tr')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[]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row in rows[1:]: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cols = row.find_all(['th','td'])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data.append([c.text.strip()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for c in cols])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pd.DataFrame(data)</a:t>
            </a:r>
            <a:endParaRPr lang="en-US" sz="850" dirty="0"/>
          </a:p>
        </p:txBody>
      </p:sp>
      <p:sp>
        <p:nvSpPr>
          <p:cNvPr id="33" name="Text 31">
            <a:hlinkClick r:id="rId3"/>
          </p:cNvPr>
          <p:cNvSpPr/>
          <p:nvPr/>
        </p:nvSpPr>
        <p:spPr>
          <a:xfrm>
            <a:off x="228600" y="4837176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u="sng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GitHub: https://github.com/Arijit-droid/IBM-DataScience-Capstone-SpaceX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E33"/>
          </a:solidFill>
          <a:ln w="12700">
            <a:solidFill>
              <a:srgbClr val="0F1E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64592" y="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 Methodology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 Feature Engineering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85800"/>
            <a:ext cx="9144000" cy="0"/>
          </a:xfrm>
          <a:prstGeom prst="line">
            <a:avLst/>
          </a:prstGeom>
          <a:noFill/>
          <a:ln w="10160">
            <a:solidFill>
              <a:srgbClr val="1E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28600" y="822960"/>
            <a:ext cx="2697480" cy="3200400"/>
          </a:xfrm>
          <a:prstGeom prst="rect">
            <a:avLst/>
          </a:prstGeom>
          <a:solidFill>
            <a:srgbClr val="0F1E33"/>
          </a:solidFill>
          <a:ln w="1524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28600" y="822960"/>
            <a:ext cx="2697480" cy="32004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38328" y="822960"/>
            <a:ext cx="2587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1207008"/>
            <a:ext cx="2478024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for missing values in payload mass, landing outcome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Imputed payload mass with column mean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date formats (ISO 8601)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duplicate flight records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Filtered: Falcon 9 only (excluded Falcon Heavy)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36392" y="822960"/>
            <a:ext cx="2697480" cy="3200400"/>
          </a:xfrm>
          <a:prstGeom prst="rect">
            <a:avLst/>
          </a:prstGeom>
          <a:solidFill>
            <a:srgbClr val="0F1E33"/>
          </a:solidFill>
          <a:ln w="15240">
            <a:solidFill>
              <a:srgbClr val="FFB8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136392" y="822960"/>
            <a:ext cx="2697480" cy="32004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246120" y="822960"/>
            <a:ext cx="2587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46120" y="1207008"/>
            <a:ext cx="2478024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binary label: Class = 1 (landed) / 0 (failed)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year and month from launch date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FlightNumber as sequential launch count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encoding: LEO, GTO, ISS, SSO, VLEO, etc.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Booster version: v1.1, FT, B4, B5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44184" y="822960"/>
            <a:ext cx="2697480" cy="3200400"/>
          </a:xfrm>
          <a:prstGeom prst="rect">
            <a:avLst/>
          </a:prstGeom>
          <a:solidFill>
            <a:srgbClr val="0F1E33"/>
          </a:solidFill>
          <a:ln w="15240">
            <a:solidFill>
              <a:srgbClr val="3DDC84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044184" y="822960"/>
            <a:ext cx="2697480" cy="320040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153912" y="822960"/>
            <a:ext cx="2587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53912" y="1207008"/>
            <a:ext cx="2478024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get_dummies() to categorical features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type → 10 binary columns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site → 4 binary columns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number → multiple binary columns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type → binary landing pad indicators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feature set: 83 columns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4160520"/>
            <a:ext cx="1965960" cy="749808"/>
          </a:xfrm>
          <a:prstGeom prst="rect">
            <a:avLst/>
          </a:prstGeom>
          <a:solidFill>
            <a:srgbClr val="0F1E33"/>
          </a:solidFill>
          <a:ln w="1524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74320" y="4206240"/>
            <a:ext cx="1965960" cy="41239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274320" y="4572914"/>
            <a:ext cx="1965960" cy="29992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450592" y="4160520"/>
            <a:ext cx="1965960" cy="749808"/>
          </a:xfrm>
          <a:prstGeom prst="rect">
            <a:avLst/>
          </a:prstGeom>
          <a:solidFill>
            <a:srgbClr val="0F1E33"/>
          </a:solidFill>
          <a:ln w="15240">
            <a:solidFill>
              <a:srgbClr val="FFB8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450592" y="4206240"/>
            <a:ext cx="1965960" cy="41239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2450592" y="4572914"/>
            <a:ext cx="1965960" cy="29992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26864" y="4160520"/>
            <a:ext cx="1965960" cy="749808"/>
          </a:xfrm>
          <a:prstGeom prst="rect">
            <a:avLst/>
          </a:prstGeom>
          <a:solidFill>
            <a:srgbClr val="0F1E33"/>
          </a:solidFill>
          <a:ln w="15240">
            <a:solidFill>
              <a:srgbClr val="3DDC84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626864" y="4206240"/>
            <a:ext cx="1965960" cy="41239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4626864" y="4572914"/>
            <a:ext cx="1965960" cy="29992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(after cleaning)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03136" y="4160520"/>
            <a:ext cx="1965960" cy="749808"/>
          </a:xfrm>
          <a:prstGeom prst="rect">
            <a:avLst/>
          </a:prstGeom>
          <a:solidFill>
            <a:srgbClr val="0F1E33"/>
          </a:solidFill>
          <a:ln w="15240">
            <a:solidFill>
              <a:srgbClr val="FF5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803136" y="4206240"/>
            <a:ext cx="1965960" cy="41239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0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803136" y="4572914"/>
            <a:ext cx="1965960" cy="29992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Label</a:t>
            </a:r>
            <a:endParaRPr lang="en-US" sz="1000" dirty="0"/>
          </a:p>
        </p:txBody>
      </p:sp>
      <p:sp>
        <p:nvSpPr>
          <p:cNvPr id="31" name="Text 29">
            <a:hlinkClick r:id="rId3"/>
          </p:cNvPr>
          <p:cNvSpPr/>
          <p:nvPr/>
        </p:nvSpPr>
        <p:spPr>
          <a:xfrm>
            <a:off x="228600" y="4892040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u="sng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GitHub: https://github.com/Arijit-droid/IBM-DataScience-Capstone-SpaceX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E33"/>
          </a:solidFill>
          <a:ln w="12700">
            <a:solidFill>
              <a:srgbClr val="0F1E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64592" y="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with Data Visualization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&amp; Methods Used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85800"/>
            <a:ext cx="9144000" cy="0"/>
          </a:xfrm>
          <a:prstGeom prst="line">
            <a:avLst/>
          </a:prstGeom>
          <a:noFill/>
          <a:ln w="10160">
            <a:solidFill>
              <a:srgbClr val="1E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28600" y="795528"/>
            <a:ext cx="1965960" cy="438912"/>
          </a:xfrm>
          <a:prstGeom prst="rect">
            <a:avLst/>
          </a:prstGeom>
          <a:solidFill>
            <a:srgbClr val="0F1E33"/>
          </a:solidFill>
          <a:ln w="1905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28600" y="795528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404872" y="795528"/>
            <a:ext cx="1965960" cy="438912"/>
          </a:xfrm>
          <a:prstGeom prst="rect">
            <a:avLst/>
          </a:prstGeom>
          <a:solidFill>
            <a:srgbClr val="0F1E33"/>
          </a:solidFill>
          <a:ln w="19050">
            <a:solidFill>
              <a:srgbClr val="FFB8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04872" y="795528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81144" y="795528"/>
            <a:ext cx="1965960" cy="438912"/>
          </a:xfrm>
          <a:prstGeom prst="rect">
            <a:avLst/>
          </a:prstGeom>
          <a:solidFill>
            <a:srgbClr val="0F1E33"/>
          </a:solidFill>
          <a:ln w="19050">
            <a:solidFill>
              <a:srgbClr val="3DDC84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81144" y="795528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757416" y="795528"/>
            <a:ext cx="1965960" cy="438912"/>
          </a:xfrm>
          <a:prstGeom prst="rect">
            <a:avLst/>
          </a:prstGeom>
          <a:solidFill>
            <a:srgbClr val="0F1E33"/>
          </a:solidFill>
          <a:ln w="19050">
            <a:solidFill>
              <a:srgbClr val="FF5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757416" y="795528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8600" y="1371600"/>
            <a:ext cx="4251960" cy="2011680"/>
          </a:xfrm>
          <a:prstGeom prst="rect">
            <a:avLst/>
          </a:prstGeom>
          <a:solidFill>
            <a:srgbClr val="0F1E33"/>
          </a:solidFill>
          <a:ln w="1524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28600" y="1371600"/>
            <a:ext cx="4251960" cy="32004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38328" y="1371600"/>
            <a:ext cx="4142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&amp; Visualizations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" y="1755648"/>
            <a:ext cx="403250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plot: Payload Mass vs. Launch Site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chart: Success rate per orbit type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chart: Flight number vs. landing outcome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chart: Yearly launch success trend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chart: Total launches per site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Heatmap: Feature correlations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1371600"/>
            <a:ext cx="4251960" cy="2011680"/>
          </a:xfrm>
          <a:prstGeom prst="rect">
            <a:avLst/>
          </a:prstGeom>
          <a:solidFill>
            <a:srgbClr val="0F1E33"/>
          </a:solidFill>
          <a:ln w="15240">
            <a:solidFill>
              <a:srgbClr val="FFB8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663440" y="1371600"/>
            <a:ext cx="4251960" cy="32004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773168" y="1371600"/>
            <a:ext cx="4142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from Charts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73168" y="1755648"/>
            <a:ext cx="403250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KSC LC-39A has highest success rate (~77%)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Heavier payloads tend to have more failures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 increases significantly post-2015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 and ISS orbits show highest landing success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VAFB SLC-4E handles sun-synchronous (SSO) missions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flights → higher success (experience effect)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28600" y="3520440"/>
            <a:ext cx="1965960" cy="1005840"/>
          </a:xfrm>
          <a:prstGeom prst="rect">
            <a:avLst/>
          </a:prstGeom>
          <a:solidFill>
            <a:srgbClr val="0F1E33"/>
          </a:solidFill>
          <a:ln w="12700">
            <a:solidFill>
              <a:srgbClr val="1E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228600" y="354787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28600" y="384048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vs Site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vs FlightNo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404872" y="3520440"/>
            <a:ext cx="1965960" cy="1005840"/>
          </a:xfrm>
          <a:prstGeom prst="rect">
            <a:avLst/>
          </a:prstGeom>
          <a:solidFill>
            <a:srgbClr val="0F1E33"/>
          </a:solidFill>
          <a:ln w="12700">
            <a:solidFill>
              <a:srgbClr val="1E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404872" y="354787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404872" y="384048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Success/Orbit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Success/Site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81144" y="3520440"/>
            <a:ext cx="1965960" cy="1005840"/>
          </a:xfrm>
          <a:prstGeom prst="rect">
            <a:avLst/>
          </a:prstGeom>
          <a:solidFill>
            <a:srgbClr val="0F1E33"/>
          </a:solidFill>
          <a:ln w="12700">
            <a:solidFill>
              <a:srgbClr val="1E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581144" y="354787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81144" y="384048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Yearly Trends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Success Rate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757416" y="3520440"/>
            <a:ext cx="1965960" cy="1005840"/>
          </a:xfrm>
          <a:prstGeom prst="rect">
            <a:avLst/>
          </a:prstGeom>
          <a:solidFill>
            <a:srgbClr val="0F1E33"/>
          </a:solidFill>
          <a:ln w="12700">
            <a:solidFill>
              <a:srgbClr val="1E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757416" y="354787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57416" y="384048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Matrix</a:t>
            </a:r>
            <a:endParaRPr lang="en-US" sz="900" dirty="0"/>
          </a:p>
        </p:txBody>
      </p:sp>
      <p:sp>
        <p:nvSpPr>
          <p:cNvPr id="35" name="Text 33">
            <a:hlinkClick r:id="rId3"/>
          </p:cNvPr>
          <p:cNvSpPr/>
          <p:nvPr/>
        </p:nvSpPr>
        <p:spPr>
          <a:xfrm>
            <a:off x="228600" y="4773168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u="sng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GitHub: https://github.com/Arijit-droid/IBM-DataScience-Capstone-SpaceX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E33"/>
          </a:solidFill>
          <a:ln w="12700">
            <a:solidFill>
              <a:srgbClr val="0F1E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64592" y="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with SQL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Queries &amp; Insights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85800"/>
            <a:ext cx="9144000" cy="0"/>
          </a:xfrm>
          <a:prstGeom prst="line">
            <a:avLst/>
          </a:prstGeom>
          <a:noFill/>
          <a:ln w="10160">
            <a:solidFill>
              <a:srgbClr val="1E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28600" y="822960"/>
            <a:ext cx="4160520" cy="2286000"/>
          </a:xfrm>
          <a:prstGeom prst="rect">
            <a:avLst/>
          </a:prstGeom>
          <a:solidFill>
            <a:srgbClr val="0F1E33"/>
          </a:solidFill>
          <a:ln w="1524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28600" y="822960"/>
            <a:ext cx="4160520" cy="32004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38328" y="822960"/>
            <a:ext cx="4050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Setup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1207008"/>
            <a:ext cx="394106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Db2 on IBM Cloud (free tier)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ibm_db, ibm_db_sa, SQLAlchemy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SQL magic: %sql / %%sql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loaded via CSV upload to Db2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Table: SPACEXTBL with 90 rows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17720" y="822960"/>
            <a:ext cx="4297680" cy="2286000"/>
          </a:xfrm>
          <a:prstGeom prst="rect">
            <a:avLst/>
          </a:prstGeom>
          <a:solidFill>
            <a:srgbClr val="0F1E33"/>
          </a:solidFill>
          <a:ln w="15240">
            <a:solidFill>
              <a:srgbClr val="FFB8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617720" y="822960"/>
            <a:ext cx="4297680" cy="32004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727448" y="822960"/>
            <a:ext cx="4187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SQL Queries Performed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27448" y="1207008"/>
            <a:ext cx="407822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launch sites from dataset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Launches from sites starting with 'CCA'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payload for NASA (CRS) missions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payload for F9 v1.1 booster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successful ground pad landing date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Boosters that landed on drone ships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vs failure counts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Booster with max payload mass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in drone ship landings in 2015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landing outcomes 2010–2017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8600" y="3246120"/>
            <a:ext cx="8686800" cy="1527048"/>
          </a:xfrm>
          <a:prstGeom prst="rect">
            <a:avLst/>
          </a:prstGeom>
          <a:solidFill>
            <a:srgbClr val="0F1E33"/>
          </a:solidFill>
          <a:ln w="15240">
            <a:solidFill>
              <a:srgbClr val="3DDC84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28600" y="3246120"/>
            <a:ext cx="8686800" cy="292608"/>
          </a:xfrm>
          <a:prstGeom prst="rect">
            <a:avLst/>
          </a:prstGeom>
          <a:solidFill>
            <a:srgbClr val="102040"/>
          </a:solidFill>
          <a:ln w="12700">
            <a:solidFill>
              <a:srgbClr val="102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47472" y="32461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SQL Queries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7472" y="3584447"/>
            <a:ext cx="8503920" cy="1336271"/>
          </a:xfrm>
          <a:prstGeom prst="rect">
            <a:avLst/>
          </a:prstGeom>
          <a:solidFill>
            <a:srgbClr val="0A162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%%sql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Q1: Unique launch sites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DISTINCT LAUNCH_SITE FROM SPACEXTBL;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Q2: Total payload for NASA CRS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SUM(PAYLOAD_MASS_KG) FROM SPACEXTBL WHERE CUSTOMER LIKE '%NASA (CRS)%';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Q3: Boosters landed on drone ship with success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BOOSTER_VERSION FROM SPACEXTBL WHERE LANDING_TYPE = 'ASDS' AND MISSION_OUTCOME = 'Success';</a:t>
            </a:r>
            <a:endParaRPr lang="en-US" sz="900" dirty="0"/>
          </a:p>
        </p:txBody>
      </p:sp>
      <p:sp>
        <p:nvSpPr>
          <p:cNvPr id="19" name="Text 17">
            <a:hlinkClick r:id="rId3"/>
          </p:cNvPr>
          <p:cNvSpPr/>
          <p:nvPr/>
        </p:nvSpPr>
        <p:spPr>
          <a:xfrm>
            <a:off x="228600" y="4920719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u="sng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GitHub: https://github.com/Arijit-droid/IBM-DataScience-Capstone-SpaceX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E33"/>
          </a:solidFill>
          <a:ln w="12700">
            <a:solidFill>
              <a:srgbClr val="0F1E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64592" y="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Visual Analytics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Folium Maps &amp; Plotly Dash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85800"/>
            <a:ext cx="9144000" cy="0"/>
          </a:xfrm>
          <a:prstGeom prst="line">
            <a:avLst/>
          </a:prstGeom>
          <a:noFill/>
          <a:ln w="10160">
            <a:solidFill>
              <a:srgbClr val="1E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28600" y="822960"/>
            <a:ext cx="4251960" cy="3977640"/>
          </a:xfrm>
          <a:prstGeom prst="rect">
            <a:avLst/>
          </a:prstGeom>
          <a:solidFill>
            <a:srgbClr val="0F1E33"/>
          </a:solidFill>
          <a:ln w="1524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28600" y="822960"/>
            <a:ext cx="4251960" cy="34747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7472" y="8229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Folium Interactive Maps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" y="1234440"/>
            <a:ext cx="40233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all 4 launch sites with markers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markers: green = success, red = failure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Popup info: site name, coordinates, outcomes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markers sized by launch count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 analysis: distance to coast, city, railway, highway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 Position plugin for coordinate tracking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closest site to populated areas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822960"/>
            <a:ext cx="4251960" cy="3977640"/>
          </a:xfrm>
          <a:prstGeom prst="rect">
            <a:avLst/>
          </a:prstGeom>
          <a:solidFill>
            <a:srgbClr val="0F1E33"/>
          </a:solidFill>
          <a:ln w="15240">
            <a:solidFill>
              <a:srgbClr val="FFB8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663440" y="822960"/>
            <a:ext cx="4251960" cy="347472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773168" y="8229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Plotly Dash Application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73168" y="1234440"/>
            <a:ext cx="40233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Dropdown: select individual or all launch sites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chart: success count per selected site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slider: filter by payload mass (kg)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plot: payload vs. launch outcome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Colour-coded by booster version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functions for real-time interactivity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that KSC LC-39A has the best success rate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payload range 2000–5000 kg optimal for landing</a:t>
            </a:r>
            <a:endParaRPr lang="en-US" sz="1050" dirty="0"/>
          </a:p>
        </p:txBody>
      </p:sp>
      <p:sp>
        <p:nvSpPr>
          <p:cNvPr id="15" name="Text 13">
            <a:hlinkClick r:id="rId3"/>
          </p:cNvPr>
          <p:cNvSpPr/>
          <p:nvPr/>
        </p:nvSpPr>
        <p:spPr>
          <a:xfrm>
            <a:off x="228600" y="4773168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u="sng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GitHub: https://github.com/Arijit-droid/IBM-DataScience-Capstone-SpaceX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E33"/>
          </a:solidFill>
          <a:ln w="12700">
            <a:solidFill>
              <a:srgbClr val="0F1E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64592" y="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Results — Scatter Plots &amp; Bar Charts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Insights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85800"/>
            <a:ext cx="9144000" cy="0"/>
          </a:xfrm>
          <a:prstGeom prst="line">
            <a:avLst/>
          </a:prstGeom>
          <a:noFill/>
          <a:ln w="10160">
            <a:solidFill>
              <a:srgbClr val="1E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28600" y="841248"/>
            <a:ext cx="4160520" cy="1965960"/>
          </a:xfrm>
          <a:prstGeom prst="rect">
            <a:avLst/>
          </a:prstGeom>
          <a:solidFill>
            <a:srgbClr val="0F1E33"/>
          </a:solidFill>
          <a:ln w="1524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28600" y="841248"/>
            <a:ext cx="4160520" cy="2743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7472" y="8412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Mass vs. Launch Outcome</a:t>
            </a:r>
            <a:endParaRPr lang="en-US" sz="10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274320" y="1161288"/>
          <a:ext cx="4069080" cy="15727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Shape 8"/>
          <p:cNvSpPr/>
          <p:nvPr/>
        </p:nvSpPr>
        <p:spPr>
          <a:xfrm>
            <a:off x="4617720" y="841248"/>
            <a:ext cx="4297680" cy="1965960"/>
          </a:xfrm>
          <a:prstGeom prst="rect">
            <a:avLst/>
          </a:prstGeom>
          <a:solidFill>
            <a:srgbClr val="0F1E33"/>
          </a:solidFill>
          <a:ln w="15240">
            <a:solidFill>
              <a:srgbClr val="FFB8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617720" y="841248"/>
            <a:ext cx="4297680" cy="27432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736592" y="8412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Number vs. Landing Outcome</a:t>
            </a:r>
            <a:endParaRPr lang="en-US" sz="1000" dirty="0"/>
          </a:p>
        </p:txBody>
      </p:sp>
      <p:graphicFrame>
        <p:nvGraphicFramePr>
          <p:cNvPr id="14" name="Chart 1"/>
          <p:cNvGraphicFramePr/>
          <p:nvPr/>
        </p:nvGraphicFramePr>
        <p:xfrm>
          <a:off x="4663440" y="1161288"/>
          <a:ext cx="4206240" cy="15727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Shape 11"/>
          <p:cNvSpPr/>
          <p:nvPr/>
        </p:nvSpPr>
        <p:spPr>
          <a:xfrm>
            <a:off x="228600" y="2926080"/>
            <a:ext cx="8686800" cy="1965960"/>
          </a:xfrm>
          <a:prstGeom prst="rect">
            <a:avLst/>
          </a:prstGeom>
          <a:solidFill>
            <a:srgbClr val="0F1E33"/>
          </a:solidFill>
          <a:ln w="15240">
            <a:solidFill>
              <a:srgbClr val="3DDC84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228600" y="2926080"/>
            <a:ext cx="8686800" cy="274320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/>
          <p:nvPr/>
        </p:nvSpPr>
        <p:spPr>
          <a:xfrm>
            <a:off x="347472" y="29260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 by Orbit Type (Bar Chart)</a:t>
            </a:r>
            <a:endParaRPr lang="en-US" sz="1000" dirty="0"/>
          </a:p>
        </p:txBody>
      </p:sp>
      <p:graphicFrame>
        <p:nvGraphicFramePr>
          <p:cNvPr id="18" name="Chart 2"/>
          <p:cNvGraphicFramePr/>
          <p:nvPr/>
        </p:nvGraphicFramePr>
        <p:xfrm>
          <a:off x="274320" y="3246120"/>
          <a:ext cx="8641080" cy="160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9" name="Text 14">
            <a:hlinkClick r:id="rId6"/>
          </p:cNvPr>
          <p:cNvSpPr/>
          <p:nvPr/>
        </p:nvSpPr>
        <p:spPr>
          <a:xfrm>
            <a:off x="228600" y="4892040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u="sng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GitHub: https://github.com/Arijit-droid/IBM-DataScience-Capstone-SpaceX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E33"/>
          </a:solidFill>
          <a:ln w="12700">
            <a:solidFill>
              <a:srgbClr val="0F1E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64592" y="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Results — Yearly Success Trends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Success Over Time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85800"/>
            <a:ext cx="9144000" cy="0"/>
          </a:xfrm>
          <a:prstGeom prst="line">
            <a:avLst/>
          </a:prstGeom>
          <a:noFill/>
          <a:ln w="10160">
            <a:solidFill>
              <a:srgbClr val="1E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28600" y="822960"/>
            <a:ext cx="8686800" cy="2926080"/>
          </a:xfrm>
          <a:prstGeom prst="rect">
            <a:avLst/>
          </a:prstGeom>
          <a:solidFill>
            <a:srgbClr val="0F1E33"/>
          </a:solidFill>
          <a:ln w="1524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28600" y="822960"/>
            <a:ext cx="8686800" cy="2743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7472" y="8229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Landing Success Rate (2010–2020)</a:t>
            </a:r>
            <a:endParaRPr lang="en-US" sz="11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274320" y="1143000"/>
          <a:ext cx="8595360" cy="25420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Shape 8"/>
          <p:cNvSpPr/>
          <p:nvPr/>
        </p:nvSpPr>
        <p:spPr>
          <a:xfrm>
            <a:off x="228600" y="3886200"/>
            <a:ext cx="1965960" cy="914400"/>
          </a:xfrm>
          <a:prstGeom prst="rect">
            <a:avLst/>
          </a:prstGeom>
          <a:solidFill>
            <a:srgbClr val="0F1E33"/>
          </a:solidFill>
          <a:ln w="19050">
            <a:solidFill>
              <a:srgbClr val="FF5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228600" y="391363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2010–2014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28600" y="4206240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success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(all failures)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404872" y="3886200"/>
            <a:ext cx="1965960" cy="914400"/>
          </a:xfrm>
          <a:prstGeom prst="rect">
            <a:avLst/>
          </a:prstGeom>
          <a:solidFill>
            <a:srgbClr val="0F1E33"/>
          </a:solidFill>
          <a:ln w="19050">
            <a:solidFill>
              <a:srgbClr val="FFB8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2404872" y="391363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404872" y="4206240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successful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581144" y="3886200"/>
            <a:ext cx="1965960" cy="914400"/>
          </a:xfrm>
          <a:prstGeom prst="rect">
            <a:avLst/>
          </a:prstGeom>
          <a:solidFill>
            <a:srgbClr val="0F1E33"/>
          </a:solidFill>
          <a:ln w="19050">
            <a:solidFill>
              <a:srgbClr val="FFB8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4581144" y="391363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2016–2018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81144" y="4206240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improvement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→ 73%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757416" y="3886200"/>
            <a:ext cx="1965960" cy="914400"/>
          </a:xfrm>
          <a:prstGeom prst="rect">
            <a:avLst/>
          </a:prstGeom>
          <a:solidFill>
            <a:srgbClr val="0F1E33"/>
          </a:solidFill>
          <a:ln w="19050">
            <a:solidFill>
              <a:srgbClr val="3DDC84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6757416" y="391363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2019–2020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757416" y="4206240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performance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 → 90%</a:t>
            </a:r>
            <a:endParaRPr lang="en-US" sz="900" dirty="0"/>
          </a:p>
        </p:txBody>
      </p:sp>
      <p:sp>
        <p:nvSpPr>
          <p:cNvPr id="23" name="Text 20">
            <a:hlinkClick r:id="rId4"/>
          </p:cNvPr>
          <p:cNvSpPr/>
          <p:nvPr/>
        </p:nvSpPr>
        <p:spPr>
          <a:xfrm>
            <a:off x="228600" y="4828032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u="sng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GitHub: https://github.com/Arijit-droid/IBM-DataScience-Capstone-SpaceX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E33"/>
          </a:solidFill>
          <a:ln w="12700">
            <a:solidFill>
              <a:srgbClr val="0F1E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64592" y="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with SQL — Results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Query Findings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85800"/>
            <a:ext cx="9144000" cy="0"/>
          </a:xfrm>
          <a:prstGeom prst="line">
            <a:avLst/>
          </a:prstGeom>
          <a:noFill/>
          <a:ln w="10160">
            <a:solidFill>
              <a:srgbClr val="1E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28600" y="822960"/>
            <a:ext cx="2697480" cy="1417320"/>
          </a:xfrm>
          <a:prstGeom prst="rect">
            <a:avLst/>
          </a:prstGeom>
          <a:solidFill>
            <a:srgbClr val="0F1E33"/>
          </a:solidFill>
          <a:ln w="1524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28600" y="822960"/>
            <a:ext cx="2697480" cy="2926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7472" y="8229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Launch Sites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" y="1161288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CCAFS LC-40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CCAFS SLC-40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KSC LC-39A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VAFB SLC-4E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36392" y="822960"/>
            <a:ext cx="2697480" cy="1417320"/>
          </a:xfrm>
          <a:prstGeom prst="rect">
            <a:avLst/>
          </a:prstGeom>
          <a:solidFill>
            <a:srgbClr val="0F1E33"/>
          </a:solidFill>
          <a:ln w="15240">
            <a:solidFill>
              <a:srgbClr val="FFB8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136392" y="822960"/>
            <a:ext cx="2697480" cy="292608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255264" y="8229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NASA CRS Payload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55264" y="1161288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45,596 kg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14 missions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44184" y="822960"/>
            <a:ext cx="2697480" cy="1417320"/>
          </a:xfrm>
          <a:prstGeom prst="rect">
            <a:avLst/>
          </a:prstGeom>
          <a:solidFill>
            <a:srgbClr val="0F1E33"/>
          </a:solidFill>
          <a:ln w="15240">
            <a:solidFill>
              <a:srgbClr val="3DDC84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044184" y="822960"/>
            <a:ext cx="2697480" cy="292608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163056" y="8229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Payload – F9 v1.1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63056" y="1161288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2,928.4 kg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launch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" y="2359152"/>
            <a:ext cx="4114800" cy="1417320"/>
          </a:xfrm>
          <a:prstGeom prst="rect">
            <a:avLst/>
          </a:prstGeom>
          <a:solidFill>
            <a:srgbClr val="0F1E33"/>
          </a:solidFill>
          <a:ln w="15240">
            <a:solidFill>
              <a:srgbClr val="FF5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28600" y="2359152"/>
            <a:ext cx="4114800" cy="292608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47472" y="235915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Ground Pad Landing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7472" y="2697480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22, 2015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 9 FT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2359152"/>
            <a:ext cx="4114800" cy="1417320"/>
          </a:xfrm>
          <a:prstGeom prst="rect">
            <a:avLst/>
          </a:prstGeom>
          <a:solidFill>
            <a:srgbClr val="0F1E33"/>
          </a:solidFill>
          <a:ln w="1524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709160" y="2359152"/>
            <a:ext cx="4114800" cy="2926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828032" y="235915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Ship Boosters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28032" y="2697480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B1016, B1017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B1019, B1021…</a:t>
            </a:r>
            <a:endParaRPr lang="en-US" sz="13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858768"/>
          <a:ext cx="8686800" cy="123444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 Site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Launches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KSC LC-39A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CCAFS LC-40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CCAFS SLC-40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VAFB SLC-4E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Text 25">
            <a:hlinkClick r:id="rId3"/>
          </p:cNvPr>
          <p:cNvSpPr/>
          <p:nvPr/>
        </p:nvSpPr>
        <p:spPr>
          <a:xfrm>
            <a:off x="5351318" y="4983480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u="sng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GitHub: https://github.com/Arijit-droid/IBM-DataScience-Capstone-SpaceX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E33"/>
          </a:solidFill>
          <a:ln w="12700">
            <a:solidFill>
              <a:srgbClr val="0F1E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64592" y="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Folium Map — Results &amp; Insights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Launch Site Analysis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85800"/>
            <a:ext cx="9144000" cy="0"/>
          </a:xfrm>
          <a:prstGeom prst="line">
            <a:avLst/>
          </a:prstGeom>
          <a:noFill/>
          <a:ln w="10160">
            <a:solidFill>
              <a:srgbClr val="1E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28600" y="822960"/>
            <a:ext cx="1965960" cy="2286000"/>
          </a:xfrm>
          <a:prstGeom prst="rect">
            <a:avLst/>
          </a:prstGeom>
          <a:solidFill>
            <a:srgbClr val="0F1E33"/>
          </a:solidFill>
          <a:ln w="15240">
            <a:solidFill>
              <a:srgbClr val="3DDC84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28600" y="822960"/>
            <a:ext cx="1965960" cy="292608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7472" y="8229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KSC LC-39A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7472" y="116128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28.6°N, 80.6°W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47472" y="144475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47472" y="18745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88720" y="144475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77.8%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88720" y="18745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47472" y="2121408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success rate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 &amp; commercial missions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404872" y="822960"/>
            <a:ext cx="1965960" cy="2286000"/>
          </a:xfrm>
          <a:prstGeom prst="rect">
            <a:avLst/>
          </a:prstGeom>
          <a:solidFill>
            <a:srgbClr val="0F1E33"/>
          </a:solidFill>
          <a:ln w="1524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404872" y="822960"/>
            <a:ext cx="1965960" cy="2926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523744" y="8229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CCAFS LC-40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523744" y="116128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28.6°N, 80.6°W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523744" y="144475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523744" y="18745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364992" y="144475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50.0%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364992" y="18745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523744" y="2121408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GTO &amp; GPS missions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launches from site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81144" y="822960"/>
            <a:ext cx="1965960" cy="2286000"/>
          </a:xfrm>
          <a:prstGeom prst="rect">
            <a:avLst/>
          </a:prstGeom>
          <a:solidFill>
            <a:srgbClr val="0F1E33"/>
          </a:solidFill>
          <a:ln w="15240">
            <a:solidFill>
              <a:srgbClr val="FFB8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581144" y="822960"/>
            <a:ext cx="1965960" cy="292608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700016" y="8229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CCAFS SLC-40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00016" y="116128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28.6°N, 80.6°W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00016" y="144475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700016" y="18745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541264" y="144475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54.5%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541264" y="18745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700016" y="2121408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 to service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2016 explosion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757416" y="822960"/>
            <a:ext cx="1965960" cy="2286000"/>
          </a:xfrm>
          <a:prstGeom prst="rect">
            <a:avLst/>
          </a:prstGeom>
          <a:solidFill>
            <a:srgbClr val="0F1E33"/>
          </a:solidFill>
          <a:ln w="15240">
            <a:solidFill>
              <a:srgbClr val="FF5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6757416" y="822960"/>
            <a:ext cx="1965960" cy="292608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876288" y="8229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VAFB SLC-4E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876288" y="116128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34.6°N, 120.6°W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876288" y="144475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876288" y="18745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717536" y="144475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50.0%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7717536" y="18745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876288" y="2121408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 &amp; SSO orbits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coast site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28600" y="3246120"/>
            <a:ext cx="8686800" cy="1554480"/>
          </a:xfrm>
          <a:prstGeom prst="rect">
            <a:avLst/>
          </a:prstGeom>
          <a:solidFill>
            <a:srgbClr val="0F1E33"/>
          </a:solidFill>
          <a:ln w="1524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228600" y="3246120"/>
            <a:ext cx="8686800" cy="32004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338328" y="3246120"/>
            <a:ext cx="8577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 Analysis Findings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38328" y="3630168"/>
            <a:ext cx="846734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launch sites are located on coastlines — crucial for trajectory safety over ocean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KSC LC-39A is closest to railways and highways, facilitating logistics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VAFB SLC-4E is furthest from populated areas — ideal for polar orbit trajectories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CCAFS sites are ~5 km apart, sharing ground support infrastructure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sites selected to minimise risk to populated areas while maximising orbital flexibility</a:t>
            </a:r>
            <a:endParaRPr lang="en-US" sz="1050" dirty="0"/>
          </a:p>
        </p:txBody>
      </p:sp>
      <p:sp>
        <p:nvSpPr>
          <p:cNvPr id="47" name="Text 45">
            <a:hlinkClick r:id="rId3"/>
          </p:cNvPr>
          <p:cNvSpPr/>
          <p:nvPr/>
        </p:nvSpPr>
        <p:spPr>
          <a:xfrm>
            <a:off x="228600" y="4828032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u="sng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GitHub: https://github.com/Arijit-droid/IBM-DataScience-Capstone-SpaceX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E33"/>
          </a:solidFill>
          <a:ln w="12700">
            <a:solidFill>
              <a:srgbClr val="0F1E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64592" y="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Dash — Results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Pie Charts &amp; Payload Scatter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85800"/>
            <a:ext cx="9144000" cy="0"/>
          </a:xfrm>
          <a:prstGeom prst="line">
            <a:avLst/>
          </a:prstGeom>
          <a:noFill/>
          <a:ln w="10160">
            <a:solidFill>
              <a:srgbClr val="1E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28600" y="822960"/>
            <a:ext cx="4160520" cy="3017520"/>
          </a:xfrm>
          <a:prstGeom prst="rect">
            <a:avLst/>
          </a:prstGeom>
          <a:solidFill>
            <a:srgbClr val="0F1E33"/>
          </a:solidFill>
          <a:ln w="1524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28600" y="822960"/>
            <a:ext cx="4160520" cy="2743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7472" y="822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Launch Success — All Sites</a:t>
            </a:r>
            <a:endParaRPr lang="en-US" sz="10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274320" y="1143000"/>
          <a:ext cx="40690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Shape 8"/>
          <p:cNvSpPr/>
          <p:nvPr/>
        </p:nvSpPr>
        <p:spPr>
          <a:xfrm>
            <a:off x="4617720" y="822960"/>
            <a:ext cx="4297680" cy="3017520"/>
          </a:xfrm>
          <a:prstGeom prst="rect">
            <a:avLst/>
          </a:prstGeom>
          <a:solidFill>
            <a:srgbClr val="0F1E33"/>
          </a:solidFill>
          <a:ln w="15240">
            <a:solidFill>
              <a:srgbClr val="FFB8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617720" y="822960"/>
            <a:ext cx="4297680" cy="27432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736592" y="822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Mass vs. Outcome (All Sites)</a:t>
            </a:r>
            <a:endParaRPr lang="en-US" sz="1000" dirty="0"/>
          </a:p>
        </p:txBody>
      </p:sp>
      <p:graphicFrame>
        <p:nvGraphicFramePr>
          <p:cNvPr id="14" name="Chart 1"/>
          <p:cNvGraphicFramePr/>
          <p:nvPr/>
        </p:nvGraphicFramePr>
        <p:xfrm>
          <a:off x="4663440" y="1143000"/>
          <a:ext cx="420624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Shape 11"/>
          <p:cNvSpPr/>
          <p:nvPr/>
        </p:nvSpPr>
        <p:spPr>
          <a:xfrm>
            <a:off x="228600" y="3977640"/>
            <a:ext cx="1965960" cy="868680"/>
          </a:xfrm>
          <a:prstGeom prst="rect">
            <a:avLst/>
          </a:prstGeom>
          <a:solidFill>
            <a:srgbClr val="0F1E33"/>
          </a:solidFill>
          <a:ln w="12700">
            <a:solidFill>
              <a:srgbClr val="1E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/>
          <p:nvPr/>
        </p:nvSpPr>
        <p:spPr>
          <a:xfrm>
            <a:off x="228600" y="4005072"/>
            <a:ext cx="1965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KSC LC-39A has highest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rate: 77.8%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2404872" y="3977640"/>
            <a:ext cx="1965960" cy="868680"/>
          </a:xfrm>
          <a:prstGeom prst="rect">
            <a:avLst/>
          </a:prstGeom>
          <a:solidFill>
            <a:srgbClr val="0F1E33"/>
          </a:solidFill>
          <a:ln w="12700">
            <a:solidFill>
              <a:srgbClr val="1E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/>
          <p:nvPr/>
        </p:nvSpPr>
        <p:spPr>
          <a:xfrm>
            <a:off x="2404872" y="4005072"/>
            <a:ext cx="1965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2000–5000 kg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best landing rate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4581144" y="3977640"/>
            <a:ext cx="1965960" cy="868680"/>
          </a:xfrm>
          <a:prstGeom prst="rect">
            <a:avLst/>
          </a:prstGeom>
          <a:solidFill>
            <a:srgbClr val="0F1E33"/>
          </a:solidFill>
          <a:ln w="12700">
            <a:solidFill>
              <a:srgbClr val="1E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/>
          <p:nvPr/>
        </p:nvSpPr>
        <p:spPr>
          <a:xfrm>
            <a:off x="4581144" y="4005072"/>
            <a:ext cx="1965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VAFB SLC-4E: 50%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successrate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6757416" y="3977640"/>
            <a:ext cx="1965960" cy="868680"/>
          </a:xfrm>
          <a:prstGeom prst="rect">
            <a:avLst/>
          </a:prstGeom>
          <a:solidFill>
            <a:srgbClr val="0F1E33"/>
          </a:solidFill>
          <a:ln w="12700">
            <a:solidFill>
              <a:srgbClr val="1E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18"/>
          <p:cNvSpPr/>
          <p:nvPr/>
        </p:nvSpPr>
        <p:spPr>
          <a:xfrm>
            <a:off x="6757416" y="4005072"/>
            <a:ext cx="1965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Heavier payloads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(&gt;6000 kg) → failures</a:t>
            </a:r>
            <a:endParaRPr lang="en-US" sz="950" dirty="0"/>
          </a:p>
        </p:txBody>
      </p:sp>
      <p:sp>
        <p:nvSpPr>
          <p:cNvPr id="23" name="Text 19">
            <a:hlinkClick r:id="rId5"/>
          </p:cNvPr>
          <p:cNvSpPr/>
          <p:nvPr/>
        </p:nvSpPr>
        <p:spPr>
          <a:xfrm>
            <a:off x="228600" y="4892040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u="sng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GitHub: https://github.com/Arijit-droid/IBM-DataScience-Capstone-SpaceX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E33"/>
          </a:solidFill>
          <a:ln w="12700">
            <a:solidFill>
              <a:srgbClr val="0F1E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64592" y="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Analysis — Models &amp; Evaluation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85800"/>
            <a:ext cx="9144000" cy="0"/>
          </a:xfrm>
          <a:prstGeom prst="line">
            <a:avLst/>
          </a:prstGeom>
          <a:noFill/>
          <a:ln w="10160">
            <a:solidFill>
              <a:srgbClr val="1E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28600" y="822960"/>
            <a:ext cx="1965960" cy="1463040"/>
          </a:xfrm>
          <a:prstGeom prst="rect">
            <a:avLst/>
          </a:prstGeom>
          <a:solidFill>
            <a:srgbClr val="0F1E33"/>
          </a:solidFill>
          <a:ln w="1524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28600" y="822960"/>
            <a:ext cx="1965960" cy="2926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7472" y="8229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7472" y="1161288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83.3%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47472" y="162763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18288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CV: 84.7%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04872" y="822960"/>
            <a:ext cx="1965960" cy="1463040"/>
          </a:xfrm>
          <a:prstGeom prst="rect">
            <a:avLst/>
          </a:prstGeom>
          <a:solidFill>
            <a:srgbClr val="0F1E33"/>
          </a:solidFill>
          <a:ln w="15240">
            <a:solidFill>
              <a:srgbClr val="FFB8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404872" y="822960"/>
            <a:ext cx="1965960" cy="292608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523744" y="8229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(SVM)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523744" y="1161288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83.3%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523744" y="162763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523744" y="18288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CV: 84.8%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81144" y="822960"/>
            <a:ext cx="1965960" cy="1463040"/>
          </a:xfrm>
          <a:prstGeom prst="rect">
            <a:avLst/>
          </a:prstGeom>
          <a:solidFill>
            <a:srgbClr val="0F1E33"/>
          </a:solidFill>
          <a:ln w="15240">
            <a:solidFill>
              <a:srgbClr val="3DDC84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581144" y="822960"/>
            <a:ext cx="1965960" cy="292608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700016" y="8229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00016" y="1161288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87.5%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700016" y="162763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00016" y="18288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CV: 87.1%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757416" y="822960"/>
            <a:ext cx="1965960" cy="1463040"/>
          </a:xfrm>
          <a:prstGeom prst="rect">
            <a:avLst/>
          </a:prstGeom>
          <a:solidFill>
            <a:srgbClr val="0F1E33"/>
          </a:solidFill>
          <a:ln w="15240">
            <a:solidFill>
              <a:srgbClr val="FF5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757416" y="822960"/>
            <a:ext cx="1965960" cy="292608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876288" y="8229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Neighbors (KNN)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876288" y="1161288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83.3%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876288" y="162763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876288" y="18288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CV: 84.2%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28600" y="2423160"/>
            <a:ext cx="4160520" cy="2468880"/>
          </a:xfrm>
          <a:prstGeom prst="rect">
            <a:avLst/>
          </a:prstGeom>
          <a:solidFill>
            <a:srgbClr val="0F1E33"/>
          </a:solidFill>
          <a:ln w="15240">
            <a:solidFill>
              <a:srgbClr val="3DDC84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228600" y="2423160"/>
            <a:ext cx="4160520" cy="274320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47472" y="2423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— Decision Tree (Best Model)</a:t>
            </a:r>
            <a:endParaRPr lang="en-US" sz="10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2761488"/>
          <a:ext cx="3931920" cy="178308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5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Pred: 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DDC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Pred: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5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Actual: 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TN: 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FP: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DDC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Actual: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FN: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TP: 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5" name="Shape 32"/>
          <p:cNvSpPr/>
          <p:nvPr/>
        </p:nvSpPr>
        <p:spPr>
          <a:xfrm>
            <a:off x="4617720" y="2423160"/>
            <a:ext cx="4297680" cy="2468880"/>
          </a:xfrm>
          <a:prstGeom prst="rect">
            <a:avLst/>
          </a:prstGeom>
          <a:solidFill>
            <a:srgbClr val="0F1E33"/>
          </a:solidFill>
          <a:ln w="15240">
            <a:solidFill>
              <a:srgbClr val="FFB8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3"/>
          <p:cNvSpPr/>
          <p:nvPr/>
        </p:nvSpPr>
        <p:spPr>
          <a:xfrm>
            <a:off x="4617720" y="2423160"/>
            <a:ext cx="4297680" cy="32004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4"/>
          <p:cNvSpPr/>
          <p:nvPr/>
        </p:nvSpPr>
        <p:spPr>
          <a:xfrm>
            <a:off x="4727448" y="2423160"/>
            <a:ext cx="4187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 (GridSearchCV)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4727448" y="2807208"/>
            <a:ext cx="407822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 on training data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Tree: max_depth = [1–10], criterion = [gini, entropy]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SVM: C = [0.01, 0.1, 1, 10, 100], kernel = [rbf, linear, poly, sigmoid]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LR: C = [0.01–100], solver = [liblinear, lbfgs]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KNN: n_neighbors = [1–10], algorithm = [auto, ball_tree]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DT: max_depth=6, criterion=entropy → 87.5% accuracy</a:t>
            </a:r>
            <a:endParaRPr lang="en-US" sz="1050" dirty="0"/>
          </a:p>
        </p:txBody>
      </p:sp>
      <p:sp>
        <p:nvSpPr>
          <p:cNvPr id="39" name="Text 36">
            <a:hlinkClick r:id="rId3"/>
          </p:cNvPr>
          <p:cNvSpPr/>
          <p:nvPr/>
        </p:nvSpPr>
        <p:spPr>
          <a:xfrm>
            <a:off x="228600" y="4919472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u="sng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GitHub: https://github.com/Arijit-droid/IBM-DataScience-Capstone-SpaceX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E33"/>
          </a:solidFill>
          <a:ln w="12700">
            <a:solidFill>
              <a:srgbClr val="0F1E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64592" y="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&amp; Conclusion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Recommendations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85800"/>
            <a:ext cx="9144000" cy="0"/>
          </a:xfrm>
          <a:prstGeom prst="line">
            <a:avLst/>
          </a:prstGeom>
          <a:noFill/>
          <a:ln w="10160">
            <a:solidFill>
              <a:srgbClr val="1E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28600" y="804672"/>
            <a:ext cx="8686800" cy="1005840"/>
          </a:xfrm>
          <a:prstGeom prst="rect">
            <a:avLst/>
          </a:prstGeom>
          <a:solidFill>
            <a:srgbClr val="0F1E33"/>
          </a:solidFill>
          <a:ln w="19050">
            <a:solidFill>
              <a:srgbClr val="3DDC84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804672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Best Model: Decision Tree Classifier — 87.5% Accuracy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28600" y="1920240"/>
            <a:ext cx="4251960" cy="1828800"/>
          </a:xfrm>
          <a:prstGeom prst="rect">
            <a:avLst/>
          </a:prstGeom>
          <a:solidFill>
            <a:srgbClr val="0F1E33"/>
          </a:solidFill>
          <a:ln w="15240">
            <a:solidFill>
              <a:srgbClr val="3DDC84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28600" y="1920240"/>
            <a:ext cx="4251960" cy="320040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38328" y="1920240"/>
            <a:ext cx="4142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" y="2304288"/>
            <a:ext cx="40325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outperforms all other models at 87.5%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KSC LC-39A has the highest landing success (77.8%)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 grew from 0% (2014) to 90% (2020)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2000–5000 kg shows best success outcomes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 and ISS orbits have 100% landing success rate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experience (flight number) → higher success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920240"/>
            <a:ext cx="4251960" cy="1828800"/>
          </a:xfrm>
          <a:prstGeom prst="rect">
            <a:avLst/>
          </a:prstGeom>
          <a:solidFill>
            <a:srgbClr val="0F1E33"/>
          </a:solidFill>
          <a:ln w="15240">
            <a:solidFill>
              <a:srgbClr val="FFB8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663440" y="1920240"/>
            <a:ext cx="4251960" cy="32004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773168" y="1920240"/>
            <a:ext cx="4142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Implications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73168" y="2304288"/>
            <a:ext cx="40325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can bid ~$62M if landing predicted successful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should bid ~$150M if landing likely to fail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gives 87.5% confidence to make this decision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KSC LC-39A bids for maximum margin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range 2000–5000 kg is commercially optimal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can be updated with new launches as data grows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3858768"/>
            <a:ext cx="8686800" cy="914400"/>
          </a:xfrm>
          <a:prstGeom prst="rect">
            <a:avLst/>
          </a:prstGeom>
          <a:solidFill>
            <a:srgbClr val="102040"/>
          </a:solidFill>
          <a:ln w="12700">
            <a:solidFill>
              <a:srgbClr val="1E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65760" y="388620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</a:t>
            </a: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publicly available data from the SpaceX API and Wikipedia, we successfully built a Decision Tree model that predicts Falcon 9 first-stage landing success with 87.5% accuracy. This enables competitive cost estimation for launch bids against SpaceX.</a:t>
            </a:r>
            <a:endParaRPr lang="en-US" sz="1050" dirty="0"/>
          </a:p>
        </p:txBody>
      </p:sp>
      <p:sp>
        <p:nvSpPr>
          <p:cNvPr id="19" name="Text 17">
            <a:hlinkClick r:id="rId3"/>
          </p:cNvPr>
          <p:cNvSpPr/>
          <p:nvPr/>
        </p:nvSpPr>
        <p:spPr>
          <a:xfrm>
            <a:off x="228600" y="4828032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u="sng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GitHub: https://github.com/Arijit-droid/IBM-DataScience-Capstone-SpaceX  |  IBM Data Science Capstone Project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2383</Words>
  <Application>Microsoft Office PowerPoint</Application>
  <PresentationFormat>On-screen Show (16:9)</PresentationFormat>
  <Paragraphs>482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SpaceX Falcon 9 First Stage Landing Prediction</dc:title>
  <dc:subject>PptxGenJS Presentation</dc:subject>
  <dc:creator>IBM Data Science Capstone</dc:creator>
  <cp:lastModifiedBy>PC</cp:lastModifiedBy>
  <cp:revision>2</cp:revision>
  <dcterms:created xsi:type="dcterms:W3CDTF">2026-04-15T11:00:11Z</dcterms:created>
  <dcterms:modified xsi:type="dcterms:W3CDTF">2026-04-15T13:03:09Z</dcterms:modified>
</cp:coreProperties>
</file>